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2194560" cy="1097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789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Arial"/>
              </a:rPr>
              <a:t>MT5_Trader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CFE0F2"/>
                </a:solidFill>
                <a:latin typeface="Arial"/>
              </a:rPr>
              <a:t>Quant research + live trading pipeline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9BB6D4"/>
                </a:solidFill>
                <a:latin typeface="Arial"/>
              </a:rPr>
              <a:t>architecture &amp; code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1188719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1887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Python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5074920"/>
            <a:ext cx="1188719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12848" y="5074920"/>
            <a:ext cx="11887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polars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5" y="5074920"/>
            <a:ext cx="1325880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5" y="5074920"/>
            <a:ext cx="1325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pyarrow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9783" y="5074920"/>
            <a:ext cx="2423160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9783" y="5074920"/>
            <a:ext cx="2423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backtest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5074920"/>
            <a:ext cx="1874519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507492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MetaTrader5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5074920"/>
            <a:ext cx="1600200" cy="475488"/>
          </a:xfrm>
          <a:prstGeom prst="roundRect">
            <a:avLst/>
          </a:prstGeom>
          <a:solidFill>
            <a:srgbClr val="16395A"/>
          </a:solidFill>
          <a:ln w="15240">
            <a:solidFill>
              <a:srgbClr val="3F7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5074920"/>
            <a:ext cx="16002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Tech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697480" cy="457200"/>
          </a:xfrm>
          <a:prstGeom prst="round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572768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Language &amp;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Python ≥3.11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hatchling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uv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55448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1554480"/>
            <a:ext cx="2697480" cy="457200"/>
          </a:xfrm>
          <a:prstGeom prst="round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1572768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Data &amp;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12140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polars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pyarrow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numpy · scipy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55448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7064" y="1554480"/>
            <a:ext cx="2697480" cy="45720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572768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Backtest &amp;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12140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no-lookahead engine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matplotlib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JupyterLab · pytest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155448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89136" y="1554480"/>
            <a:ext cx="2697480" cy="457200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1572768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12140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MetaTrader5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runner loop · watchdog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Telegram alerts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931920"/>
            <a:ext cx="2697480" cy="457200"/>
          </a:xfrm>
          <a:prstGeom prst="round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950207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Config &amp; secrets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49884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pyyaml (config/*.yaml)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python-dotenv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393192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64992" y="3931920"/>
            <a:ext cx="2697480" cy="45720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3008" y="3950207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47872" y="449884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Streamlit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Plotly · pandas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7064" y="393192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27064" y="3931920"/>
            <a:ext cx="2697480" cy="457200"/>
          </a:xfrm>
          <a:prstGeom prst="round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950207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Data ingestion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449884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Binance · Dukascopy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economic calendar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89136" y="3931920"/>
            <a:ext cx="269748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89136" y="3931920"/>
            <a:ext cx="2697480" cy="457200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7152" y="3950207"/>
            <a:ext cx="2478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016" y="4498848"/>
            <a:ext cx="2386584" cy="1499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pytest — full suite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6222E"/>
                </a:solidFill>
                <a:latin typeface="Arial"/>
              </a:rPr>
              <a:t>•  211 tests green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System architecture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data → features → strategies → backtest / live → risk → execution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874" y="1600200"/>
            <a:ext cx="776994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Data pipeline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raw market data → canonical bars → features → signal</a:t>
            </a:r>
          </a:p>
        </p:txBody>
      </p:sp>
      <p:pic>
        <p:nvPicPr>
          <p:cNvPr id="7" name="Picture 6" descr="dat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00200"/>
            <a:ext cx="11338560" cy="31747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From signal to order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one strategy abstraction, two execution paths</a:t>
            </a:r>
          </a:p>
        </p:txBody>
      </p:sp>
      <p:pic>
        <p:nvPicPr>
          <p:cNvPr id="7" name="Picture 6" descr="signal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229" y="1600200"/>
            <a:ext cx="873923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Strategy abstraction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one tiny contract every strategy implements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8686800" cy="713232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8412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CEAF7"/>
                </a:solidFill>
                <a:latin typeface="Arial"/>
              </a:rPr>
              <a:t>signal(bars)  →  one target position in [-1, 1] per bar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15768"/>
            <a:ext cx="118872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70048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0F2A43"/>
                </a:solidFill>
                <a:latin typeface="Arial"/>
              </a:rPr>
              <a:t>One method.  </a:t>
            </a:r>
            <a:r>
              <a:rPr sz="1650" b="0">
                <a:solidFill>
                  <a:srgbClr val="16222E"/>
                </a:solidFill>
                <a:latin typeface="Arial"/>
              </a:rPr>
              <a:t>A strategy is a “book” — nothing but signal(bars). −1 = full short, +1 = full long.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65575"/>
            <a:ext cx="118872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419856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0F2A43"/>
                </a:solidFill>
                <a:latin typeface="Arial"/>
              </a:rPr>
              <a:t>Auto-discovered.  </a:t>
            </a:r>
            <a:r>
              <a:rPr sz="1650" b="0">
                <a:solidFill>
                  <a:srgbClr val="16222E"/>
                </a:solidFill>
                <a:latin typeface="Arial"/>
              </a:rPr>
              <a:t>@register adds a book; the engine, validator and live runner all find it by 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15383"/>
            <a:ext cx="118872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169663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0F2A43"/>
                </a:solidFill>
                <a:latin typeface="Arial"/>
              </a:rPr>
              <a:t>No look-ahead.  </a:t>
            </a:r>
            <a:r>
              <a:rPr sz="1650" b="0">
                <a:solidFill>
                  <a:srgbClr val="16222E"/>
                </a:solidFill>
                <a:latin typeface="Arial"/>
              </a:rPr>
              <a:t>signal[t] sees only data up to bar t — the engine trades it one bar later.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65192"/>
            <a:ext cx="118872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919472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0F2A43"/>
                </a:solidFill>
                <a:latin typeface="Arial"/>
              </a:rPr>
              <a:t>Add in one file.  </a:t>
            </a:r>
            <a:r>
              <a:rPr sz="1650" b="0">
                <a:solidFill>
                  <a:srgbClr val="16222E"/>
                </a:solidFill>
                <a:latin typeface="Arial"/>
              </a:rPr>
              <a:t>Copy the template, write signal(). No engine changes, no plumbing.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8872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69280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0F2A43"/>
                </a:solidFill>
                <a:latin typeface="Arial"/>
              </a:rPr>
              <a:t>Compose a portfolio.  </a:t>
            </a:r>
            <a:r>
              <a:rPr sz="1650" b="0">
                <a:solidFill>
                  <a:srgbClr val="16222E"/>
                </a:solidFill>
                <a:latin typeface="Arial"/>
              </a:rPr>
              <a:t>Weight the books in config; targets are netted per symbol before ordering.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AI-native by design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built with — and built for — AI coding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5568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37160" cy="859536"/>
          </a:xfrm>
          <a:prstGeom prst="round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1709928"/>
            <a:ext cx="420624" cy="420624"/>
          </a:xfrm>
          <a:prstGeom prst="ellipse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09928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1572768"/>
            <a:ext cx="10058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A43"/>
                </a:solidFill>
                <a:latin typeface="Arial"/>
              </a:rPr>
              <a:t>Built with AI agents  —  </a:t>
            </a:r>
            <a:r>
              <a:rPr sz="1400" b="0">
                <a:solidFill>
                  <a:srgbClr val="16222E"/>
                </a:solidFill>
                <a:latin typeface="Arial"/>
              </a:rPr>
              <a:t>Developed end-to-end with AI coding agents; repo conventions (CLAUDE.md, typed contracts, tests) steer the agent.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68880"/>
            <a:ext cx="1115568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468880"/>
            <a:ext cx="137160" cy="859536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86384" y="2697480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69748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2560320"/>
            <a:ext cx="10058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A43"/>
                </a:solidFill>
                <a:latin typeface="Arial"/>
              </a:rPr>
              <a:t>Agent-friendly extension  —  </a:t>
            </a:r>
            <a:r>
              <a:rPr sz="1400" b="0">
                <a:solidFill>
                  <a:srgbClr val="16222E"/>
                </a:solidFill>
                <a:latin typeface="Arial"/>
              </a:rPr>
              <a:t>One narrow contract — signal(bars) → position. Registry auto-discovery; copy a template to add an edge, no engine changes.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56432"/>
            <a:ext cx="1115568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56432"/>
            <a:ext cx="137160" cy="859536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3685032"/>
            <a:ext cx="420624" cy="420624"/>
          </a:xfrm>
          <a:prstGeom prst="ellipse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685032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547872"/>
            <a:ext cx="10058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A43"/>
                </a:solidFill>
                <a:latin typeface="Arial"/>
              </a:rPr>
              <a:t>Machine-readable research loop  —  </a:t>
            </a:r>
            <a:r>
              <a:rPr sz="1400" b="0">
                <a:solidFill>
                  <a:srgbClr val="16222E"/>
                </a:solidFill>
                <a:latin typeface="Arial"/>
              </a:rPr>
              <a:t>Structured trials / stash / verdicts + automated validation gates emit a PASS/FAIL verdict an agent can act 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43984"/>
            <a:ext cx="1115568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F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443984"/>
            <a:ext cx="137160" cy="859536"/>
          </a:xfrm>
          <a:prstGeom prst="round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6384" y="4672584"/>
            <a:ext cx="420624" cy="420624"/>
          </a:xfrm>
          <a:prstGeom prst="ellipse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672584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535424"/>
            <a:ext cx="10058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A43"/>
                </a:solidFill>
                <a:latin typeface="Arial"/>
              </a:rPr>
              <a:t>Guardrails for autonomous iteration  —  </a:t>
            </a:r>
            <a:r>
              <a:rPr sz="1400" b="0">
                <a:solidFill>
                  <a:srgbClr val="16222E"/>
                </a:solidFill>
                <a:latin typeface="Arial"/>
              </a:rPr>
              <a:t>No-lookahead enforced by tests for every strategy; evidence gate before sizing; 211-test suite is the feedback signal.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49824"/>
            <a:ext cx="11155680" cy="585216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449824"/>
            <a:ext cx="1088136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A9D8F"/>
                </a:solidFill>
                <a:latin typeface="Arial"/>
              </a:rPr>
              <a:t>research loop:    </a:t>
            </a:r>
            <a:r>
              <a:rPr sz="1400" b="0">
                <a:solidFill>
                  <a:srgbClr val="DCEAF7"/>
                </a:solidFill>
                <a:latin typeface="Arial"/>
              </a:rPr>
              <a:t>propose  →  backtest  →  validation gates  →  verdict  →  promote / stash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Repository layout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1155680" cy="452628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50" b="1">
                <a:solidFill>
                  <a:srgbClr val="9BD0C6"/>
                </a:solidFill>
                <a:latin typeface="Menlo"/>
              </a:rPr>
              <a:t>src/mt5_trader/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data/        ingestion · canonical schema · bars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features/    microstructure (OFI, imbalance) · technicals · regime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backtest/    vectorized engine + metrics (no-lookahead)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strategies/  registry-based books (signal → position)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risk/        vol targeting + kill switch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live/        MT5 gateway + runner loop (Windows VPS)</a:t>
            </a:r>
          </a:p>
          <a:p>
            <a:pPr>
              <a:spcAft>
                <a:spcPts val="400"/>
              </a:spcAft>
            </a:pPr>
            <a:r>
              <a:rPr sz="1550" b="0">
                <a:solidFill>
                  <a:srgbClr val="C3D0DD"/>
                </a:solidFill>
                <a:latin typeface="Menlo"/>
              </a:rPr>
              <a:t>  pipeline/    validation gates · trials · stash</a:t>
            </a:r>
          </a:p>
          <a:p>
            <a:pPr>
              <a:spcAft>
                <a:spcPts val="400"/>
              </a:spcAft>
            </a:pPr>
            <a:r>
              <a:rPr sz="1550" b="1">
                <a:solidFill>
                  <a:srgbClr val="9BD0C6"/>
                </a:solidFill>
                <a:latin typeface="Menlo"/>
              </a:rPr>
              <a:t>config/        instruments · risk · portfolio (YAML)</a:t>
            </a:r>
          </a:p>
          <a:p>
            <a:pPr>
              <a:spcAft>
                <a:spcPts val="400"/>
              </a:spcAft>
            </a:pPr>
            <a:r>
              <a:rPr sz="1550" b="1">
                <a:solidFill>
                  <a:srgbClr val="9BD0C6"/>
                </a:solidFill>
                <a:latin typeface="Menlo"/>
              </a:rPr>
              <a:t>scripts/       ingest · run_backtest · run_live · research/eval</a:t>
            </a:r>
          </a:p>
          <a:p>
            <a:pPr>
              <a:spcAft>
                <a:spcPts val="400"/>
              </a:spcAft>
            </a:pPr>
            <a:r>
              <a:rPr sz="1550" b="1">
                <a:solidFill>
                  <a:srgbClr val="9BD0C6"/>
                </a:solidFill>
                <a:latin typeface="Menlo"/>
              </a:rPr>
              <a:t>dashboard/     Streamlit monitoring app</a:t>
            </a:r>
          </a:p>
          <a:p>
            <a:pPr>
              <a:spcAft>
                <a:spcPts val="400"/>
              </a:spcAft>
            </a:pPr>
            <a:r>
              <a:rPr sz="1550" b="1">
                <a:solidFill>
                  <a:srgbClr val="9BD0C6"/>
                </a:solidFill>
                <a:latin typeface="Menlo"/>
              </a:rPr>
              <a:t>tests/         pytest suite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2926080" cy="548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MT5_Trader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00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0F2A43"/>
                </a:solidFill>
                <a:latin typeface="Arial"/>
              </a:rPr>
              <a:t>How it runs &amp; how it's tested</a:t>
            </a:r>
          </a:p>
          <a:p>
            <a:pPr algn="l">
              <a:spcAft>
                <a:spcPts val="400"/>
              </a:spcAft>
            </a:pPr>
            <a:r>
              <a:rPr sz="1650" b="0">
                <a:solidFill>
                  <a:srgbClr val="2F6DB0"/>
                </a:solidFill>
                <a:latin typeface="Arial"/>
              </a:rPr>
              <a:t>research locally · deploy live on a VPS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6DB0"/>
                </a:solidFill>
                <a:latin typeface="Arial"/>
              </a:rPr>
              <a:t>Research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627632"/>
            <a:ext cx="8869680" cy="530352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627632"/>
            <a:ext cx="8503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uv sync --extra dev   ·   uv run pytest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6DB0"/>
                </a:solidFill>
                <a:latin typeface="Arial"/>
              </a:rPr>
              <a:t>Backtest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377440"/>
            <a:ext cx="8869680" cy="530352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2377440"/>
            <a:ext cx="8503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uv run scripts/run_backtest.py --strategy vwap_trend --symbol XAUUSD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27248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6DB0"/>
                </a:solidFill>
                <a:latin typeface="Arial"/>
              </a:rPr>
              <a:t>Go live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3127248"/>
            <a:ext cx="8869680" cy="530352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127248"/>
            <a:ext cx="8503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DCEAF7"/>
                </a:solidFill>
                <a:latin typeface="Arial"/>
              </a:rPr>
              <a:t>python scripts/run_portfolio.py   (MT5 + creds via env, on Windows)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23944"/>
            <a:ext cx="118872" cy="502920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78224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0F2A43"/>
                </a:solidFill>
                <a:latin typeface="Arial"/>
              </a:rPr>
              <a:t>Every edge is gated.  </a:t>
            </a:r>
            <a:r>
              <a:rPr sz="1500" b="0">
                <a:solidFill>
                  <a:srgbClr val="16222E"/>
                </a:solidFill>
                <a:latin typeface="Arial"/>
              </a:rPr>
              <a:t>Five checks before it trades — consistent weekly, survives 4× costs, parameter-robust, out-of-sample, multiple-testing adjusted.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73752"/>
            <a:ext cx="118872" cy="502920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828032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0F2A43"/>
                </a:solidFill>
                <a:latin typeface="Arial"/>
              </a:rPr>
              <a:t>Risk sits on top.  </a:t>
            </a:r>
            <a:r>
              <a:rPr sz="1500" b="0">
                <a:solidFill>
                  <a:srgbClr val="16222E"/>
                </a:solidFill>
                <a:latin typeface="Arial"/>
              </a:rPr>
              <a:t>Vol-targeted sizing and a daily kill switch on the net position; optional spike and event mutes.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23560"/>
            <a:ext cx="118872" cy="502920"/>
          </a:xfrm>
          <a:prstGeom prst="roundRect">
            <a:avLst/>
          </a:prstGeom>
          <a:solidFill>
            <a:srgbClr val="D98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577840"/>
            <a:ext cx="10881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0F2A43"/>
                </a:solidFill>
                <a:latin typeface="Arial"/>
              </a:rPr>
              <a:t>Always watched.  </a:t>
            </a:r>
            <a:r>
              <a:rPr sz="1500" b="0">
                <a:solidFill>
                  <a:srgbClr val="16222E"/>
                </a:solidFill>
                <a:latin typeface="Arial"/>
              </a:rPr>
              <a:t>Runner logs feed a Streamlit dashboard and a Telegram daily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