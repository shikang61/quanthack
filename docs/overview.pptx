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2194560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Helvetica Neue"/>
              </a:rPr>
              <a:t>MT5_Trader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CFE0F2"/>
                </a:solidFill>
                <a:latin typeface="Helvetica Neue"/>
              </a:rPr>
              <a:t>Quant research + live trading pipeline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9BB6D4"/>
                </a:solidFill>
                <a:latin typeface="Helvetica Neue"/>
              </a:rPr>
              <a:t>architecture &amp; code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74920"/>
            <a:ext cx="1033272" cy="457200"/>
          </a:xfrm>
          <a:prstGeom prst="roundRect">
            <a:avLst/>
          </a:prstGeom>
          <a:solidFill>
            <a:srgbClr val="16395A"/>
          </a:solidFill>
          <a:ln w="15240">
            <a:solidFill>
              <a:srgbClr val="2F6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332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CFE0F2"/>
                </a:solidFill>
                <a:latin typeface="Helvetica Neue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9112" y="5074920"/>
            <a:ext cx="1033272" cy="457200"/>
          </a:xfrm>
          <a:prstGeom prst="roundRect">
            <a:avLst/>
          </a:prstGeom>
          <a:solidFill>
            <a:srgbClr val="16395A"/>
          </a:solidFill>
          <a:ln w="15240">
            <a:solidFill>
              <a:srgbClr val="2F6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39112" y="5074920"/>
            <a:ext cx="10332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CFE0F2"/>
                </a:solidFill>
                <a:latin typeface="Helvetica Neue"/>
              </a:rPr>
              <a:t>polars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5264" y="5074920"/>
            <a:ext cx="1156716" cy="457200"/>
          </a:xfrm>
          <a:prstGeom prst="roundRect">
            <a:avLst/>
          </a:prstGeom>
          <a:solidFill>
            <a:srgbClr val="16395A"/>
          </a:solidFill>
          <a:ln w="15240">
            <a:solidFill>
              <a:srgbClr val="2F6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5264" y="5074920"/>
            <a:ext cx="11567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CFE0F2"/>
                </a:solidFill>
                <a:latin typeface="Helvetica Neue"/>
              </a:rPr>
              <a:t>pyarrow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4860" y="5074920"/>
            <a:ext cx="2144268" cy="457200"/>
          </a:xfrm>
          <a:prstGeom prst="roundRect">
            <a:avLst/>
          </a:prstGeom>
          <a:solidFill>
            <a:srgbClr val="16395A"/>
          </a:solidFill>
          <a:ln w="15240">
            <a:solidFill>
              <a:srgbClr val="2F6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4860" y="5074920"/>
            <a:ext cx="21442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CFE0F2"/>
                </a:solidFill>
                <a:latin typeface="Helvetica Neue"/>
              </a:rPr>
              <a:t>backtest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5074920"/>
            <a:ext cx="1650492" cy="457200"/>
          </a:xfrm>
          <a:prstGeom prst="roundRect">
            <a:avLst/>
          </a:prstGeom>
          <a:solidFill>
            <a:srgbClr val="16395A"/>
          </a:solidFill>
          <a:ln w="15240">
            <a:solidFill>
              <a:srgbClr val="2F6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5074920"/>
            <a:ext cx="16504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CFE0F2"/>
                </a:solidFill>
                <a:latin typeface="Helvetica Neue"/>
              </a:rPr>
              <a:t>MetaTrader5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5380" y="5074920"/>
            <a:ext cx="1403604" cy="457200"/>
          </a:xfrm>
          <a:prstGeom prst="roundRect">
            <a:avLst/>
          </a:prstGeom>
          <a:solidFill>
            <a:srgbClr val="16395A"/>
          </a:solidFill>
          <a:ln w="15240">
            <a:solidFill>
              <a:srgbClr val="2F6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5380" y="5074920"/>
            <a:ext cx="14036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CFE0F2"/>
                </a:solidFill>
                <a:latin typeface="Helvetica Neue"/>
              </a:rPr>
              <a:t>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92608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MT5_Trader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2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Helvetica Neue"/>
              </a:rPr>
              <a:t>Tech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6974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2697480" cy="420624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27048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</a:rPr>
              <a:t>Language &amp;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4231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Python ≥3.11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hatchling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uv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508760"/>
            <a:ext cx="26974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64992" y="1508760"/>
            <a:ext cx="2697480" cy="420624"/>
          </a:xfrm>
          <a:prstGeom prst="roundRect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527048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</a:rPr>
              <a:t>Data &amp; 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2039112"/>
            <a:ext cx="24231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polars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pyarrow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numpy · scipy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1508760"/>
            <a:ext cx="26974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7064" y="1508760"/>
            <a:ext cx="2697480" cy="420624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527048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</a:rPr>
              <a:t>Backtest &amp;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039112"/>
            <a:ext cx="24231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no-lookahead engine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matplotlib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JupyterLab · pytest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1508760"/>
            <a:ext cx="26974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89136" y="1508760"/>
            <a:ext cx="2697480" cy="420624"/>
          </a:xfrm>
          <a:prstGeom prst="roundRect">
            <a:avLst/>
          </a:prstGeom>
          <a:solidFill>
            <a:srgbClr val="E0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864" y="1527048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</a:rPr>
              <a:t>Live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039112"/>
            <a:ext cx="24231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MetaTrader5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runner loop · watchdog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Telegram alerts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22191"/>
            <a:ext cx="26974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3822191"/>
            <a:ext cx="2697480" cy="420624"/>
          </a:xfrm>
          <a:prstGeom prst="roundRect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3840479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</a:rPr>
              <a:t>Config &amp; secrets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4352544"/>
            <a:ext cx="24231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pyyaml (config/*.yaml)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python-dotenv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3822191"/>
            <a:ext cx="26974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64992" y="3822191"/>
            <a:ext cx="2697480" cy="420624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840479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</a:rPr>
              <a:t>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9584" y="4352544"/>
            <a:ext cx="24231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Streamlit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Plotly · pandas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7064" y="3822191"/>
            <a:ext cx="26974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27064" y="3822191"/>
            <a:ext cx="2697480" cy="420624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3840479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</a:rPr>
              <a:t>Data ingestion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4352544"/>
            <a:ext cx="24231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Binance · Dukascopy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economic calendar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9136" y="3822191"/>
            <a:ext cx="26974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89136" y="3822191"/>
            <a:ext cx="2697480" cy="420624"/>
          </a:xfrm>
          <a:prstGeom prst="roundRect">
            <a:avLst/>
          </a:prstGeom>
          <a:solidFill>
            <a:srgbClr val="E0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98864" y="3840479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</a:rPr>
              <a:t>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728" y="4352544"/>
            <a:ext cx="24231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pytest — full suite green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B2733"/>
                </a:solidFill>
                <a:latin typeface="Helvetica Neue"/>
              </a:rPr>
              <a:t>• 211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92608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MT5_Trader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3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Helvetica Neue"/>
              </a:rPr>
              <a:t>System architecture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F6DB0"/>
                </a:solidFill>
                <a:latin typeface="Helvetica Neue"/>
              </a:rPr>
              <a:t>data → features → strategies → backtest / live → risk → execution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554480"/>
            <a:ext cx="7772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92608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MT5_Trader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4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Helvetica Neue"/>
              </a:rPr>
              <a:t>Data pipeline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F6DB0"/>
                </a:solidFill>
                <a:latin typeface="Helvetica Neue"/>
              </a:rPr>
              <a:t>raw market data → canonical bars → features → signal</a:t>
            </a:r>
          </a:p>
        </p:txBody>
      </p:sp>
      <p:pic>
        <p:nvPicPr>
          <p:cNvPr id="7" name="Picture 6" descr="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554480"/>
            <a:ext cx="11247120" cy="28761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92608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MT5_Trader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5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Helvetica Neue"/>
              </a:rPr>
              <a:t>From signal to order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F6DB0"/>
                </a:solidFill>
                <a:latin typeface="Helvetica Neue"/>
              </a:rPr>
              <a:t>one strategy abstraction, two execution paths</a:t>
            </a:r>
          </a:p>
        </p:txBody>
      </p:sp>
      <p:pic>
        <p:nvPicPr>
          <p:cNvPr id="7" name="Picture 6" descr="signal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79" y="1554480"/>
            <a:ext cx="887473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92608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MT5_Trader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6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Helvetica Neue"/>
              </a:rPr>
              <a:t>Strategy abstraction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6583680" cy="64008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6400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FE0F2"/>
                </a:solidFill>
                <a:latin typeface="Helvetica Neue"/>
              </a:rPr>
              <a:t>signal(bars)  →  np.ndarray  (target position ∈ [-1, 1] per bar)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23744"/>
            <a:ext cx="109728" cy="4572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2733"/>
                </a:solidFill>
                <a:latin typeface="Helvetica Neue"/>
              </a:rPr>
              <a:t>Every strategy is a “book”: an object exposing signal(bars).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73552"/>
            <a:ext cx="109728" cy="4572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1868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2733"/>
                </a:solidFill>
                <a:latin typeface="Helvetica Neue"/>
              </a:rPr>
              <a:t>Books self-register into a REGISTRY via @register; engine, validator and live runner resolve books by name.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23359"/>
            <a:ext cx="109728" cy="4572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68496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2733"/>
                </a:solidFill>
                <a:latin typeface="Helvetica Neue"/>
              </a:rPr>
              <a:t>No-lookahead by construction: signal[t] uses data ≤ t; the engine shifts execution one bar.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73168"/>
            <a:ext cx="109728" cy="4572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18304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2733"/>
                </a:solidFill>
                <a:latin typeface="Helvetica Neue"/>
              </a:rPr>
              <a:t>Add a strategy = copy strategy_template.py, implement signal(), register. No engine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22976"/>
            <a:ext cx="109728" cy="4572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68112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2733"/>
                </a:solidFill>
                <a:latin typeface="Helvetica Neue"/>
              </a:rPr>
              <a:t>Portfolio = weighted books in config/portfolio.yaml; targets netted per symbol before ordering.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92608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MT5_Trader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7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Helvetica Neue"/>
              </a:rPr>
              <a:t>AI-native by design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F6DB0"/>
                </a:solidFill>
                <a:latin typeface="Helvetica Neue"/>
              </a:rPr>
              <a:t>built with — and built for — AI coding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11556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128016" cy="841248"/>
          </a:xfrm>
          <a:prstGeom prst="roundRect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00784"/>
            <a:ext cx="402336" cy="402336"/>
          </a:xfrm>
          <a:prstGeom prst="ellipse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00784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591056"/>
            <a:ext cx="10058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2A43"/>
                </a:solidFill>
                <a:latin typeface="Helvetica Neue"/>
              </a:rPr>
              <a:t>Built with AI agents  —  </a:t>
            </a:r>
            <a:r>
              <a:rPr sz="1300" b="0">
                <a:solidFill>
                  <a:srgbClr val="1B2733"/>
                </a:solidFill>
                <a:latin typeface="Helvetica Neue"/>
              </a:rPr>
              <a:t>Developed end-to-end with AI coding agents; repo conventions (CLAUDE.md, typed contracts, tests) steer the agent.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50592"/>
            <a:ext cx="111556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450592"/>
            <a:ext cx="128016" cy="8412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2670048"/>
            <a:ext cx="402336" cy="40233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70048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560320"/>
            <a:ext cx="10058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2A43"/>
                </a:solidFill>
                <a:latin typeface="Helvetica Neue"/>
              </a:rPr>
              <a:t>Agent-friendly extension  —  </a:t>
            </a:r>
            <a:r>
              <a:rPr sz="1300" b="0">
                <a:solidFill>
                  <a:srgbClr val="1B2733"/>
                </a:solidFill>
                <a:latin typeface="Helvetica Neue"/>
              </a:rPr>
              <a:t>One narrow contract — signal(bars) → position. Registry auto-discovery; copy strategy_template.py to add an edge, no engine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19856"/>
            <a:ext cx="111556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419856"/>
            <a:ext cx="128016" cy="841248"/>
          </a:xfrm>
          <a:prstGeom prst="roundRect">
            <a:avLst/>
          </a:prstGeom>
          <a:solidFill>
            <a:srgbClr val="E0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639312"/>
            <a:ext cx="402336" cy="402336"/>
          </a:xfrm>
          <a:prstGeom prst="ellipse">
            <a:avLst/>
          </a:prstGeom>
          <a:solidFill>
            <a:srgbClr val="E0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3931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529584"/>
            <a:ext cx="10058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2A43"/>
                </a:solidFill>
                <a:latin typeface="Helvetica Neue"/>
              </a:rPr>
              <a:t>Machine-readable research loop  —  </a:t>
            </a:r>
            <a:r>
              <a:rPr sz="1300" b="0">
                <a:solidFill>
                  <a:srgbClr val="1B2733"/>
                </a:solidFill>
                <a:latin typeface="Helvetica Neue"/>
              </a:rPr>
              <a:t>Structured trials / stash / verdicts + automated validation gates emit a PASS/FAIL verdict an agent can act 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89120"/>
            <a:ext cx="111556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389120"/>
            <a:ext cx="128016" cy="841248"/>
          </a:xfrm>
          <a:prstGeom prst="roundRect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4608576"/>
            <a:ext cx="402336" cy="402336"/>
          </a:xfrm>
          <a:prstGeom prst="ellipse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08576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498848"/>
            <a:ext cx="10058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2A43"/>
                </a:solidFill>
                <a:latin typeface="Helvetica Neue"/>
              </a:rPr>
              <a:t>Guardrails for autonomous iteration  —  </a:t>
            </a:r>
            <a:r>
              <a:rPr sz="1300" b="0">
                <a:solidFill>
                  <a:srgbClr val="1B2733"/>
                </a:solidFill>
                <a:latin typeface="Helvetica Neue"/>
              </a:rPr>
              <a:t>No-lookahead enforced by tests for every strategy; evidence gate before sizing; 211-test suite is the agent's feedback signal.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94960"/>
            <a:ext cx="11155680" cy="566928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A9D8F"/>
                </a:solidFill>
                <a:latin typeface="Helvetica Neue"/>
              </a:rPr>
              <a:t>research loop:   </a:t>
            </a:r>
            <a:r>
              <a:rPr sz="1350" b="0">
                <a:solidFill>
                  <a:srgbClr val="CFE0F2"/>
                </a:solidFill>
                <a:latin typeface="Helvetica Neue"/>
              </a:rPr>
              <a:t>propose  →  backtest  →  validation gates  →  verdict  →  promote / stash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92608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MT5_Trader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8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Helvetica Neue"/>
              </a:rPr>
              <a:t>Repository layout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1155680" cy="4572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50" b="1">
                <a:solidFill>
                  <a:srgbClr val="9BD0C6"/>
                </a:solidFill>
                <a:latin typeface="Menlo"/>
              </a:rPr>
              <a:t>src/mt5_trader/</a:t>
            </a:r>
          </a:p>
          <a:p>
            <a:pPr>
              <a:spcAft>
                <a:spcPts val="300"/>
              </a:spcAft>
            </a:pPr>
            <a:r>
              <a:rPr sz="1450" b="0">
                <a:solidFill>
                  <a:srgbClr val="B9C6D4"/>
                </a:solidFill>
                <a:latin typeface="Menlo"/>
              </a:rPr>
              <a:t>  data/        ingestion · canonical schema · bars</a:t>
            </a:r>
          </a:p>
          <a:p>
            <a:pPr>
              <a:spcAft>
                <a:spcPts val="300"/>
              </a:spcAft>
            </a:pPr>
            <a:r>
              <a:rPr sz="1450" b="0">
                <a:solidFill>
                  <a:srgbClr val="B9C6D4"/>
                </a:solidFill>
                <a:latin typeface="Menlo"/>
              </a:rPr>
              <a:t>  features/    microstructure (OFI, imbalance) · technicals · regime</a:t>
            </a:r>
          </a:p>
          <a:p>
            <a:pPr>
              <a:spcAft>
                <a:spcPts val="300"/>
              </a:spcAft>
            </a:pPr>
            <a:r>
              <a:rPr sz="1450" b="0">
                <a:solidFill>
                  <a:srgbClr val="B9C6D4"/>
                </a:solidFill>
                <a:latin typeface="Menlo"/>
              </a:rPr>
              <a:t>  backtest/    vectorized engine + metrics (no-lookahead)</a:t>
            </a:r>
          </a:p>
          <a:p>
            <a:pPr>
              <a:spcAft>
                <a:spcPts val="300"/>
              </a:spcAft>
            </a:pPr>
            <a:r>
              <a:rPr sz="1450" b="0">
                <a:solidFill>
                  <a:srgbClr val="B9C6D4"/>
                </a:solidFill>
                <a:latin typeface="Menlo"/>
              </a:rPr>
              <a:t>  strategies/  registry-based books (signal → position)</a:t>
            </a:r>
          </a:p>
          <a:p>
            <a:pPr>
              <a:spcAft>
                <a:spcPts val="300"/>
              </a:spcAft>
            </a:pPr>
            <a:r>
              <a:rPr sz="1450" b="0">
                <a:solidFill>
                  <a:srgbClr val="B9C6D4"/>
                </a:solidFill>
                <a:latin typeface="Menlo"/>
              </a:rPr>
              <a:t>  risk/        vol targeting + kill switch</a:t>
            </a:r>
          </a:p>
          <a:p>
            <a:pPr>
              <a:spcAft>
                <a:spcPts val="300"/>
              </a:spcAft>
            </a:pPr>
            <a:r>
              <a:rPr sz="1450" b="0">
                <a:solidFill>
                  <a:srgbClr val="B9C6D4"/>
                </a:solidFill>
                <a:latin typeface="Menlo"/>
              </a:rPr>
              <a:t>  live/        MT5 gateway + runner loop (Windows VPS)</a:t>
            </a:r>
          </a:p>
          <a:p>
            <a:pPr>
              <a:spcAft>
                <a:spcPts val="300"/>
              </a:spcAft>
            </a:pPr>
            <a:r>
              <a:rPr sz="1450" b="0">
                <a:solidFill>
                  <a:srgbClr val="B9C6D4"/>
                </a:solidFill>
                <a:latin typeface="Menlo"/>
              </a:rPr>
              <a:t>  pipeline/    validation gates · trials · stash</a:t>
            </a:r>
          </a:p>
          <a:p>
            <a:pPr>
              <a:spcAft>
                <a:spcPts val="300"/>
              </a:spcAft>
            </a:pPr>
            <a:r>
              <a:rPr sz="1450" b="1">
                <a:solidFill>
                  <a:srgbClr val="9BD0C6"/>
                </a:solidFill>
                <a:latin typeface="Menlo"/>
              </a:rPr>
              <a:t>config/        instruments · risk · portfolio (YAML)</a:t>
            </a:r>
          </a:p>
          <a:p>
            <a:pPr>
              <a:spcAft>
                <a:spcPts val="300"/>
              </a:spcAft>
            </a:pPr>
            <a:r>
              <a:rPr sz="1450" b="1">
                <a:solidFill>
                  <a:srgbClr val="9BD0C6"/>
                </a:solidFill>
                <a:latin typeface="Menlo"/>
              </a:rPr>
              <a:t>scripts/       ingest · run_backtest · run_live · research/eval</a:t>
            </a:r>
          </a:p>
          <a:p>
            <a:pPr>
              <a:spcAft>
                <a:spcPts val="300"/>
              </a:spcAft>
            </a:pPr>
            <a:r>
              <a:rPr sz="1450" b="1">
                <a:solidFill>
                  <a:srgbClr val="9BD0C6"/>
                </a:solidFill>
                <a:latin typeface="Menlo"/>
              </a:rPr>
              <a:t>dashboard/     Streamlit monitoring app</a:t>
            </a:r>
          </a:p>
          <a:p>
            <a:pPr>
              <a:spcAft>
                <a:spcPts val="300"/>
              </a:spcAft>
            </a:pPr>
            <a:r>
              <a:rPr sz="1450" b="1">
                <a:solidFill>
                  <a:srgbClr val="9BD0C6"/>
                </a:solidFill>
                <a:latin typeface="Menlo"/>
              </a:rPr>
              <a:t>tests/         pytest suite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92608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MT5_Trader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Helvetica Neue"/>
              </a:rPr>
              <a:t>9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Helvetica Neue"/>
              </a:rPr>
              <a:t>How it runs &amp; how it's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F6DB0"/>
                </a:solidFill>
                <a:latin typeface="Helvetica Neue"/>
              </a:rPr>
              <a:t>Research (macOS)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554480"/>
            <a:ext cx="7589520" cy="5029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55448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FE0F2"/>
                </a:solidFill>
                <a:latin typeface="Helvetica Neue"/>
              </a:rPr>
              <a:t>uv sync --extra dev   ·   uv run pytest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F6DB0"/>
                </a:solidFill>
                <a:latin typeface="Helvetica Neue"/>
              </a:rPr>
              <a:t>Backtest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267712"/>
            <a:ext cx="7589520" cy="5029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26771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FE0F2"/>
                </a:solidFill>
                <a:latin typeface="Helvetica Neue"/>
              </a:rPr>
              <a:t>uv run scripts/run_backtest.py --strategy vwap_trend --symbol XAUUSD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8094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F6DB0"/>
                </a:solidFill>
                <a:latin typeface="Helvetica Neue"/>
              </a:rPr>
              <a:t>Live (Windows VPS)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2980944"/>
            <a:ext cx="7589520" cy="5029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980944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FE0F2"/>
                </a:solidFill>
                <a:latin typeface="Helvetica Neue"/>
              </a:rPr>
              <a:t>python scripts/run_portfolio.py   (MT5 terminal + creds via env)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86200"/>
            <a:ext cx="109728" cy="457200"/>
          </a:xfrm>
          <a:prstGeom prst="roundRect">
            <a:avLst/>
          </a:prstGeom>
          <a:solidFill>
            <a:srgbClr val="E0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31336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733"/>
                </a:solidFill>
                <a:latin typeface="Helvetica Neue"/>
              </a:rPr>
              <a:t>Validation gates score every candidate: week-by-week, cost-stress, param-wiggle, walk-forward, deflated-Sharpe.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09728" cy="457200"/>
          </a:xfrm>
          <a:prstGeom prst="roundRect">
            <a:avLst/>
          </a:prstGeom>
          <a:solidFill>
            <a:srgbClr val="E0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62856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733"/>
                </a:solidFill>
                <a:latin typeface="Helvetica Neue"/>
              </a:rPr>
              <a:t>Risk overlays run on the net position: vol targeting, daily kill switch, optional vol-guard / event blackout.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349240"/>
            <a:ext cx="109728" cy="457200"/>
          </a:xfrm>
          <a:prstGeom prst="roundRect">
            <a:avLst/>
          </a:prstGeom>
          <a:solidFill>
            <a:srgbClr val="E0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94376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B2733"/>
                </a:solidFill>
                <a:latin typeface="Helvetica Neue"/>
              </a:rPr>
              <a:t>Monitoring: runner logs → Streamlit dashboard + Telegram daily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